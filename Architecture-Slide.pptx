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48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946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5781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RAG pipeline with vector knowledge base on Amazon Bedrock</a:t>
            </a:r>
            <a:endParaRPr lang="en-US" sz="1300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46C3C79-B863-8639-1ED5-638844D49936}"/>
              </a:ext>
            </a:extLst>
          </p:cNvPr>
          <p:cNvGrpSpPr/>
          <p:nvPr/>
        </p:nvGrpSpPr>
        <p:grpSpPr>
          <a:xfrm>
            <a:off x="3291840" y="943864"/>
            <a:ext cx="2377440" cy="640080"/>
            <a:chOff x="3291840" y="1417320"/>
            <a:chExt cx="2377440" cy="640080"/>
          </a:xfrm>
        </p:grpSpPr>
        <p:sp>
          <p:nvSpPr>
            <p:cNvPr id="4" name="Shape 2"/>
            <p:cNvSpPr/>
            <p:nvPr/>
          </p:nvSpPr>
          <p:spPr>
            <a:xfrm>
              <a:off x="3291840" y="1417320"/>
              <a:ext cx="2377440" cy="640080"/>
            </a:xfrm>
            <a:prstGeom prst="roundRect">
              <a:avLst>
                <a:gd name="adj" fmla="val 14286"/>
              </a:avLst>
            </a:prstGeom>
            <a:solidFill>
              <a:srgbClr val="162740"/>
            </a:solidFill>
            <a:ln w="6350">
              <a:solidFill>
                <a:srgbClr val="C8CE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9000" y="1527048"/>
              <a:ext cx="411480" cy="41148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3886200" y="1435608"/>
              <a:ext cx="16459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 Input</a:t>
              </a:r>
              <a:endParaRPr lang="en-US" sz="110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 File</a:t>
              </a:r>
              <a:endParaRPr lang="en-US" sz="1100" dirty="0"/>
            </a:p>
          </p:txBody>
        </p:sp>
      </p:grp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556512"/>
            <a:ext cx="274320" cy="274320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597EA8AF-7E79-B433-BC1C-689DD031BEB0}"/>
              </a:ext>
            </a:extLst>
          </p:cNvPr>
          <p:cNvGrpSpPr/>
          <p:nvPr/>
        </p:nvGrpSpPr>
        <p:grpSpPr>
          <a:xfrm>
            <a:off x="2011680" y="1836927"/>
            <a:ext cx="4937760" cy="3566160"/>
            <a:chOff x="2011680" y="2493897"/>
            <a:chExt cx="4937760" cy="3566160"/>
          </a:xfrm>
        </p:grpSpPr>
        <p:sp>
          <p:nvSpPr>
            <p:cNvPr id="8" name="Shape 4"/>
            <p:cNvSpPr/>
            <p:nvPr/>
          </p:nvSpPr>
          <p:spPr>
            <a:xfrm>
              <a:off x="2011680" y="2493897"/>
              <a:ext cx="4937760" cy="3566160"/>
            </a:xfrm>
            <a:prstGeom prst="roundRect">
              <a:avLst>
                <a:gd name="adj" fmla="val 5128"/>
              </a:avLst>
            </a:prstGeom>
            <a:solidFill>
              <a:srgbClr val="2E8BF0">
                <a:alpha val="6000"/>
              </a:srgbClr>
            </a:solidFill>
            <a:ln w="19050">
              <a:solidFill>
                <a:srgbClr val="2E8BF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5"/>
            <p:cNvSpPr/>
            <p:nvPr/>
          </p:nvSpPr>
          <p:spPr>
            <a:xfrm>
              <a:off x="2240280" y="26060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2E8B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STRANDS AGENTS SDK  —  GraphBuilder Pipeline</a:t>
              </a:r>
              <a:endParaRPr lang="en-US" sz="9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2377440" y="3017520"/>
              <a:ext cx="4206240" cy="777240"/>
            </a:xfrm>
            <a:prstGeom prst="roundRect">
              <a:avLst>
                <a:gd name="adj" fmla="val 11765"/>
              </a:avLst>
            </a:prstGeom>
            <a:solidFill>
              <a:srgbClr val="162740"/>
            </a:solidFill>
            <a:ln w="12700">
              <a:solidFill>
                <a:srgbClr val="00C9A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14600" y="3172968"/>
              <a:ext cx="457200" cy="45720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3063240" y="309067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Retriever Agent</a:t>
              </a:r>
              <a:endParaRPr lang="en-US" sz="14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3063240" y="3401568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0C9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search_similar_crs()  •  fetch_test_groups()</a:t>
              </a:r>
              <a:endParaRPr lang="en-US" sz="10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5669280" y="3264408"/>
              <a:ext cx="685800" cy="256032"/>
            </a:xfrm>
            <a:prstGeom prst="roundRect">
              <a:avLst>
                <a:gd name="adj" fmla="val 17857"/>
              </a:avLst>
            </a:prstGeom>
            <a:solidFill>
              <a:srgbClr val="00C9A7">
                <a:alpha val="15000"/>
              </a:srgb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C9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tools</a:t>
              </a:r>
              <a:endParaRPr lang="en-US" sz="900" dirty="0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3672" y="3840480"/>
              <a:ext cx="274320" cy="274320"/>
            </a:xfrm>
            <a:prstGeom prst="rect">
              <a:avLst/>
            </a:prstGeom>
          </p:spPr>
        </p:pic>
        <p:sp>
          <p:nvSpPr>
            <p:cNvPr id="16" name="Shape 10"/>
            <p:cNvSpPr/>
            <p:nvPr/>
          </p:nvSpPr>
          <p:spPr>
            <a:xfrm>
              <a:off x="2377440" y="3977640"/>
              <a:ext cx="4206240" cy="777240"/>
            </a:xfrm>
            <a:prstGeom prst="roundRect">
              <a:avLst>
                <a:gd name="adj" fmla="val 11765"/>
              </a:avLst>
            </a:prstGeom>
            <a:solidFill>
              <a:srgbClr val="162740"/>
            </a:solidFill>
            <a:ln w="12700">
              <a:solidFill>
                <a:srgbClr val="2E8B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4600" y="4133088"/>
              <a:ext cx="457200" cy="457200"/>
            </a:xfrm>
            <a:prstGeom prst="rect">
              <a:avLst/>
            </a:prstGeom>
          </p:spPr>
        </p:pic>
        <p:sp>
          <p:nvSpPr>
            <p:cNvPr id="18" name="Text 11"/>
            <p:cNvSpPr/>
            <p:nvPr/>
          </p:nvSpPr>
          <p:spPr>
            <a:xfrm>
              <a:off x="3063240" y="405079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Analyzer Agent</a:t>
              </a:r>
              <a:endParaRPr lang="en-US" sz="1400" dirty="0"/>
            </a:p>
          </p:txBody>
        </p:sp>
        <p:sp>
          <p:nvSpPr>
            <p:cNvPr id="19" name="Text 12"/>
            <p:cNvSpPr/>
            <p:nvPr/>
          </p:nvSpPr>
          <p:spPr>
            <a:xfrm>
              <a:off x="3063240" y="4361688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E8B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Pure reasoning  •  Workday domain rules  •  P/N/R</a:t>
              </a:r>
              <a:endParaRPr lang="en-US" sz="1000" dirty="0"/>
            </a:p>
          </p:txBody>
        </p:sp>
        <p:sp>
          <p:nvSpPr>
            <p:cNvPr id="20" name="Text 13"/>
            <p:cNvSpPr/>
            <p:nvPr/>
          </p:nvSpPr>
          <p:spPr>
            <a:xfrm>
              <a:off x="5669280" y="4224528"/>
              <a:ext cx="685800" cy="256032"/>
            </a:xfrm>
            <a:prstGeom prst="roundRect">
              <a:avLst>
                <a:gd name="adj" fmla="val 17857"/>
              </a:avLst>
            </a:prstGeom>
            <a:solidFill>
              <a:srgbClr val="2E8BF0">
                <a:alpha val="15000"/>
              </a:srgb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E8B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 tools</a:t>
              </a:r>
              <a:endParaRPr lang="en-US" sz="900" dirty="0"/>
            </a:p>
          </p:txBody>
        </p:sp>
        <p:pic>
          <p:nvPicPr>
            <p:cNvPr id="21" name="Image 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3672" y="4800600"/>
              <a:ext cx="274320" cy="274320"/>
            </a:xfrm>
            <a:prstGeom prst="rect">
              <a:avLst/>
            </a:prstGeom>
          </p:spPr>
        </p:pic>
        <p:sp>
          <p:nvSpPr>
            <p:cNvPr id="22" name="Shape 14"/>
            <p:cNvSpPr/>
            <p:nvPr/>
          </p:nvSpPr>
          <p:spPr>
            <a:xfrm>
              <a:off x="2377440" y="4937760"/>
              <a:ext cx="4206240" cy="777240"/>
            </a:xfrm>
            <a:prstGeom prst="roundRect">
              <a:avLst>
                <a:gd name="adj" fmla="val 11765"/>
              </a:avLst>
            </a:prstGeom>
            <a:solidFill>
              <a:srgbClr val="162740"/>
            </a:solidFill>
            <a:ln w="12700">
              <a:solidFill>
                <a:srgbClr val="AB7AE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14600" y="5093208"/>
              <a:ext cx="457200" cy="457200"/>
            </a:xfrm>
            <a:prstGeom prst="rect">
              <a:avLst/>
            </a:prstGeom>
          </p:spPr>
        </p:pic>
        <p:sp>
          <p:nvSpPr>
            <p:cNvPr id="24" name="Text 15"/>
            <p:cNvSpPr/>
            <p:nvPr/>
          </p:nvSpPr>
          <p:spPr>
            <a:xfrm>
              <a:off x="3063240" y="501091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Generator Agent</a:t>
              </a:r>
              <a:endParaRPr lang="en-US" sz="1400" dirty="0"/>
            </a:p>
          </p:txBody>
        </p:sp>
        <p:sp>
          <p:nvSpPr>
            <p:cNvPr id="25" name="Text 16"/>
            <p:cNvSpPr/>
            <p:nvPr/>
          </p:nvSpPr>
          <p:spPr>
            <a:xfrm>
              <a:off x="3063240" y="5321808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B7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save_test_excel()  •  openpyxl  •  3-sheet .xlsx</a:t>
              </a:r>
              <a:endParaRPr lang="en-US" sz="1000" dirty="0"/>
            </a:p>
          </p:txBody>
        </p:sp>
        <p:sp>
          <p:nvSpPr>
            <p:cNvPr id="26" name="Text 17"/>
            <p:cNvSpPr/>
            <p:nvPr/>
          </p:nvSpPr>
          <p:spPr>
            <a:xfrm>
              <a:off x="5669280" y="5184648"/>
              <a:ext cx="685800" cy="256032"/>
            </a:xfrm>
            <a:prstGeom prst="roundRect">
              <a:avLst>
                <a:gd name="adj" fmla="val 17857"/>
              </a:avLst>
            </a:prstGeom>
            <a:solidFill>
              <a:srgbClr val="AB7AED">
                <a:alpha val="15000"/>
              </a:srgb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AB7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tool</a:t>
              </a:r>
              <a:endParaRPr lang="en-US" sz="900" dirty="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2C8B663-9573-0D41-53CB-9953001CBA08}"/>
              </a:ext>
            </a:extLst>
          </p:cNvPr>
          <p:cNvGrpSpPr/>
          <p:nvPr/>
        </p:nvGrpSpPr>
        <p:grpSpPr>
          <a:xfrm>
            <a:off x="3291840" y="5438987"/>
            <a:ext cx="2377440" cy="913597"/>
            <a:chOff x="3296920" y="5427685"/>
            <a:chExt cx="2377440" cy="913597"/>
          </a:xfrm>
        </p:grpSpPr>
        <p:sp>
          <p:nvSpPr>
            <p:cNvPr id="28" name="Shape 18"/>
            <p:cNvSpPr/>
            <p:nvPr/>
          </p:nvSpPr>
          <p:spPr>
            <a:xfrm>
              <a:off x="3296920" y="5701202"/>
              <a:ext cx="2377440" cy="640080"/>
            </a:xfrm>
            <a:prstGeom prst="roundRect">
              <a:avLst>
                <a:gd name="adj" fmla="val 14286"/>
              </a:avLst>
            </a:prstGeom>
            <a:solidFill>
              <a:srgbClr val="162740"/>
            </a:solidFill>
            <a:ln w="6350">
              <a:solidFill>
                <a:srgbClr val="C8CED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D4EF6D7-DB94-FCA3-4E2A-E466847B518C}"/>
                </a:ext>
              </a:extLst>
            </p:cNvPr>
            <p:cNvGrpSpPr/>
            <p:nvPr/>
          </p:nvGrpSpPr>
          <p:grpSpPr>
            <a:xfrm>
              <a:off x="3429000" y="5427685"/>
              <a:ext cx="2103120" cy="896112"/>
              <a:chOff x="3429000" y="6007608"/>
              <a:chExt cx="2103120" cy="896112"/>
            </a:xfrm>
          </p:grpSpPr>
          <p:pic>
            <p:nvPicPr>
              <p:cNvPr id="27" name="Image 7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3672" y="6007608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29" name="Image 8" descr="preencoded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29000" y="6400800"/>
                <a:ext cx="411480" cy="411480"/>
              </a:xfrm>
              <a:prstGeom prst="rect">
                <a:avLst/>
              </a:prstGeom>
            </p:spPr>
          </p:pic>
          <p:sp>
            <p:nvSpPr>
              <p:cNvPr id="30" name="Text 19"/>
              <p:cNvSpPr/>
              <p:nvPr/>
            </p:nvSpPr>
            <p:spPr>
              <a:xfrm>
                <a:off x="3886200" y="6309360"/>
                <a:ext cx="164592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Test Cases</a:t>
                </a:r>
                <a:endParaRPr lang="en-US" sz="11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.xlsx Output</a:t>
                </a:r>
                <a:endParaRPr lang="en-US" sz="1100" dirty="0"/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FD31A77-D9AD-E864-00D4-1228951A4B77}"/>
              </a:ext>
            </a:extLst>
          </p:cNvPr>
          <p:cNvGrpSpPr/>
          <p:nvPr/>
        </p:nvGrpSpPr>
        <p:grpSpPr>
          <a:xfrm>
            <a:off x="7680960" y="1520952"/>
            <a:ext cx="3840480" cy="2011680"/>
            <a:chOff x="7680960" y="2468880"/>
            <a:chExt cx="3840480" cy="2011680"/>
          </a:xfrm>
        </p:grpSpPr>
        <p:sp>
          <p:nvSpPr>
            <p:cNvPr id="31" name="Shape 20"/>
            <p:cNvSpPr/>
            <p:nvPr/>
          </p:nvSpPr>
          <p:spPr>
            <a:xfrm>
              <a:off x="7680960" y="2468880"/>
              <a:ext cx="3840480" cy="2011680"/>
            </a:xfrm>
            <a:prstGeom prst="roundRect">
              <a:avLst>
                <a:gd name="adj" fmla="val 6818"/>
              </a:avLst>
            </a:prstGeom>
            <a:solidFill>
              <a:srgbClr val="162740"/>
            </a:solidFill>
            <a:ln w="12700">
              <a:solidFill>
                <a:srgbClr val="00C9A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" name="Image 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63840" y="2651760"/>
              <a:ext cx="411480" cy="411480"/>
            </a:xfrm>
            <a:prstGeom prst="rect">
              <a:avLst/>
            </a:prstGeom>
          </p:spPr>
        </p:pic>
        <p:sp>
          <p:nvSpPr>
            <p:cNvPr id="33" name="Text 21"/>
            <p:cNvSpPr/>
            <p:nvPr/>
          </p:nvSpPr>
          <p:spPr>
            <a:xfrm>
              <a:off x="8366760" y="265176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0C9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Pinecone</a:t>
              </a:r>
              <a:endParaRPr lang="en-US" sz="1600" dirty="0"/>
            </a:p>
          </p:txBody>
        </p:sp>
        <p:sp>
          <p:nvSpPr>
            <p:cNvPr id="34" name="Text 22"/>
            <p:cNvSpPr/>
            <p:nvPr/>
          </p:nvSpPr>
          <p:spPr>
            <a:xfrm>
              <a:off x="8366760" y="292608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4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Serverless Vector Database</a:t>
              </a:r>
              <a:endParaRPr lang="en-US" sz="1000" dirty="0"/>
            </a:p>
          </p:txBody>
        </p:sp>
        <p:sp>
          <p:nvSpPr>
            <p:cNvPr id="35" name="Shape 23"/>
            <p:cNvSpPr/>
            <p:nvPr/>
          </p:nvSpPr>
          <p:spPr>
            <a:xfrm>
              <a:off x="7863840" y="3291840"/>
              <a:ext cx="3474720" cy="457200"/>
            </a:xfrm>
            <a:prstGeom prst="roundRect">
              <a:avLst>
                <a:gd name="adj" fmla="val 16000"/>
              </a:avLst>
            </a:prstGeom>
            <a:solidFill>
              <a:srgbClr val="00C9A7">
                <a:alpha val="12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4"/>
            <p:cNvSpPr/>
            <p:nvPr/>
          </p:nvSpPr>
          <p:spPr>
            <a:xfrm>
              <a:off x="8046720" y="3310128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cr_details       10 CR vectors  •  1024-dim</a:t>
              </a:r>
              <a:endParaRPr lang="en-US" sz="1000" dirty="0"/>
            </a:p>
          </p:txBody>
        </p:sp>
        <p:sp>
          <p:nvSpPr>
            <p:cNvPr id="37" name="Shape 25"/>
            <p:cNvSpPr/>
            <p:nvPr/>
          </p:nvSpPr>
          <p:spPr>
            <a:xfrm>
              <a:off x="7863840" y="3840480"/>
              <a:ext cx="3474720" cy="457200"/>
            </a:xfrm>
            <a:prstGeom prst="roundRect">
              <a:avLst>
                <a:gd name="adj" fmla="val 16000"/>
              </a:avLst>
            </a:prstGeom>
            <a:solidFill>
              <a:srgbClr val="00C9A7">
                <a:alpha val="12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26"/>
            <p:cNvSpPr/>
            <p:nvPr/>
          </p:nvSpPr>
          <p:spPr>
            <a:xfrm>
              <a:off x="8046720" y="3858768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test_cases      ~50 group vectors  •  1024-dim</a:t>
              </a:r>
              <a:endParaRPr lang="en-US" sz="1000" dirty="0"/>
            </a:p>
          </p:txBody>
        </p:sp>
      </p:grpSp>
      <p:sp>
        <p:nvSpPr>
          <p:cNvPr id="39" name="Shape 27"/>
          <p:cNvSpPr/>
          <p:nvPr/>
        </p:nvSpPr>
        <p:spPr>
          <a:xfrm>
            <a:off x="6949440" y="2680885"/>
            <a:ext cx="73152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2315126"/>
            <a:ext cx="274320" cy="27432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995160" y="201337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</a:t>
            </a:r>
            <a:endParaRPr lang="en-US" sz="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340F385-B4E1-DF06-42C6-2E2FBF64416B}"/>
              </a:ext>
            </a:extLst>
          </p:cNvPr>
          <p:cNvGrpSpPr/>
          <p:nvPr/>
        </p:nvGrpSpPr>
        <p:grpSpPr>
          <a:xfrm>
            <a:off x="7680960" y="3610187"/>
            <a:ext cx="3840480" cy="2011680"/>
            <a:chOff x="7680960" y="4572000"/>
            <a:chExt cx="3840480" cy="2011680"/>
          </a:xfrm>
        </p:grpSpPr>
        <p:sp>
          <p:nvSpPr>
            <p:cNvPr id="42" name="Shape 29"/>
            <p:cNvSpPr/>
            <p:nvPr/>
          </p:nvSpPr>
          <p:spPr>
            <a:xfrm>
              <a:off x="7680960" y="4572000"/>
              <a:ext cx="3840480" cy="2011680"/>
            </a:xfrm>
            <a:prstGeom prst="roundRect">
              <a:avLst>
                <a:gd name="adj" fmla="val 6818"/>
              </a:avLst>
            </a:prstGeom>
            <a:solidFill>
              <a:srgbClr val="162740"/>
            </a:solidFill>
            <a:ln w="12700">
              <a:solidFill>
                <a:srgbClr val="2E8B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43" name="Image 11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863840" y="4754880"/>
              <a:ext cx="411480" cy="411480"/>
            </a:xfrm>
            <a:prstGeom prst="rect">
              <a:avLst/>
            </a:prstGeom>
          </p:spPr>
        </p:pic>
        <p:sp>
          <p:nvSpPr>
            <p:cNvPr id="44" name="Text 30"/>
            <p:cNvSpPr/>
            <p:nvPr/>
          </p:nvSpPr>
          <p:spPr>
            <a:xfrm>
              <a:off x="8366760" y="475488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E8B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Amazon Bedrock</a:t>
              </a:r>
              <a:endParaRPr lang="en-US" sz="1600" dirty="0"/>
            </a:p>
          </p:txBody>
        </p:sp>
        <p:sp>
          <p:nvSpPr>
            <p:cNvPr id="45" name="Text 31"/>
            <p:cNvSpPr/>
            <p:nvPr/>
          </p:nvSpPr>
          <p:spPr>
            <a:xfrm>
              <a:off x="8366760" y="502920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A94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via boto3 SDK  •  Converse API</a:t>
              </a:r>
              <a:endParaRPr lang="en-US" sz="1000" dirty="0"/>
            </a:p>
          </p:txBody>
        </p:sp>
        <p:sp>
          <p:nvSpPr>
            <p:cNvPr id="46" name="Shape 32"/>
            <p:cNvSpPr/>
            <p:nvPr/>
          </p:nvSpPr>
          <p:spPr>
            <a:xfrm>
              <a:off x="7863840" y="5394960"/>
              <a:ext cx="3474720" cy="457200"/>
            </a:xfrm>
            <a:prstGeom prst="roundRect">
              <a:avLst>
                <a:gd name="adj" fmla="val 16000"/>
              </a:avLst>
            </a:prstGeom>
            <a:solidFill>
              <a:srgbClr val="2E8BF0">
                <a:alpha val="12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47" name="Image 1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55280" y="5458968"/>
              <a:ext cx="320040" cy="320040"/>
            </a:xfrm>
            <a:prstGeom prst="rect">
              <a:avLst/>
            </a:prstGeom>
          </p:spPr>
        </p:pic>
        <p:sp>
          <p:nvSpPr>
            <p:cNvPr id="48" name="Text 33"/>
            <p:cNvSpPr/>
            <p:nvPr/>
          </p:nvSpPr>
          <p:spPr>
            <a:xfrm>
              <a:off x="8366760" y="5413248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Llama 4 Scout 17B     streaming=False</a:t>
              </a:r>
              <a:endParaRPr lang="en-US" sz="1000" dirty="0"/>
            </a:p>
          </p:txBody>
        </p:sp>
        <p:sp>
          <p:nvSpPr>
            <p:cNvPr id="49" name="Shape 34"/>
            <p:cNvSpPr/>
            <p:nvPr/>
          </p:nvSpPr>
          <p:spPr>
            <a:xfrm>
              <a:off x="7863840" y="5943600"/>
              <a:ext cx="3474720" cy="457200"/>
            </a:xfrm>
            <a:prstGeom prst="roundRect">
              <a:avLst>
                <a:gd name="adj" fmla="val 16000"/>
              </a:avLst>
            </a:prstGeom>
            <a:solidFill>
              <a:srgbClr val="2E8BF0">
                <a:alpha val="12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50" name="Image 13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55280" y="6007608"/>
              <a:ext cx="320040" cy="320040"/>
            </a:xfrm>
            <a:prstGeom prst="rect">
              <a:avLst/>
            </a:prstGeom>
          </p:spPr>
        </p:pic>
        <p:sp>
          <p:nvSpPr>
            <p:cNvPr id="51" name="Text 35"/>
            <p:cNvSpPr/>
            <p:nvPr/>
          </p:nvSpPr>
          <p:spPr>
            <a:xfrm>
              <a:off x="8366760" y="5961888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Titan Embed V2          1024-dim vectors</a:t>
              </a:r>
              <a:endParaRPr lang="en-US" sz="1000" dirty="0"/>
            </a:p>
          </p:txBody>
        </p:sp>
      </p:grpSp>
      <p:sp>
        <p:nvSpPr>
          <p:cNvPr id="52" name="Shape 36"/>
          <p:cNvSpPr/>
          <p:nvPr/>
        </p:nvSpPr>
        <p:spPr>
          <a:xfrm>
            <a:off x="6949440" y="4547616"/>
            <a:ext cx="731520" cy="0"/>
          </a:xfrm>
          <a:prstGeom prst="line">
            <a:avLst/>
          </a:prstGeom>
          <a:noFill/>
          <a:ln w="19050">
            <a:solidFill>
              <a:srgbClr val="2E8B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4241038"/>
            <a:ext cx="274320" cy="274320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6995160" y="393928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E8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E8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00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20B83A2-D61A-1F2C-8125-242B333CCA10}"/>
              </a:ext>
            </a:extLst>
          </p:cNvPr>
          <p:cNvGrpSpPr/>
          <p:nvPr/>
        </p:nvGrpSpPr>
        <p:grpSpPr>
          <a:xfrm>
            <a:off x="274320" y="1709928"/>
            <a:ext cx="1508760" cy="4206240"/>
            <a:chOff x="274320" y="2468880"/>
            <a:chExt cx="1508760" cy="4206240"/>
          </a:xfrm>
        </p:grpSpPr>
        <p:sp>
          <p:nvSpPr>
            <p:cNvPr id="55" name="Shape 38"/>
            <p:cNvSpPr/>
            <p:nvPr/>
          </p:nvSpPr>
          <p:spPr>
            <a:xfrm>
              <a:off x="274320" y="2468880"/>
              <a:ext cx="1508760" cy="4206240"/>
            </a:xfrm>
            <a:prstGeom prst="roundRect">
              <a:avLst>
                <a:gd name="adj" fmla="val 9091"/>
              </a:avLst>
            </a:prstGeom>
            <a:solidFill>
              <a:srgbClr val="162740"/>
            </a:solidFill>
            <a:ln w="9525">
              <a:solidFill>
                <a:srgbClr val="FFA726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39"/>
            <p:cNvSpPr/>
            <p:nvPr/>
          </p:nvSpPr>
          <p:spPr>
            <a:xfrm>
              <a:off x="365760" y="2606040"/>
              <a:ext cx="13258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FFA7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INGESTION</a:t>
              </a:r>
              <a:endParaRPr lang="en-US" sz="900" dirty="0"/>
            </a:p>
          </p:txBody>
        </p:sp>
        <p:sp>
          <p:nvSpPr>
            <p:cNvPr id="57" name="Text 40"/>
            <p:cNvSpPr/>
            <p:nvPr/>
          </p:nvSpPr>
          <p:spPr>
            <a:xfrm>
              <a:off x="365760" y="2816352"/>
              <a:ext cx="1325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A94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One-time setup</a:t>
              </a:r>
              <a:endParaRPr lang="en-US" sz="800" dirty="0"/>
            </a:p>
          </p:txBody>
        </p:sp>
        <p:pic>
          <p:nvPicPr>
            <p:cNvPr id="58" name="Image 1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3154680"/>
              <a:ext cx="347472" cy="347472"/>
            </a:xfrm>
            <a:prstGeom prst="rect">
              <a:avLst/>
            </a:prstGeom>
          </p:spPr>
        </p:pic>
        <p:sp>
          <p:nvSpPr>
            <p:cNvPr id="59" name="Text 41"/>
            <p:cNvSpPr/>
            <p:nvPr/>
          </p:nvSpPr>
          <p:spPr>
            <a:xfrm>
              <a:off x="822960" y="3127248"/>
              <a:ext cx="868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CR Word</a:t>
              </a:r>
              <a:endParaRPr lang="en-US" sz="9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documents</a:t>
              </a:r>
              <a:endParaRPr lang="en-US" sz="900" dirty="0"/>
            </a:p>
          </p:txBody>
        </p:sp>
        <p:sp>
          <p:nvSpPr>
            <p:cNvPr id="60" name="Text 42"/>
            <p:cNvSpPr/>
            <p:nvPr/>
          </p:nvSpPr>
          <p:spPr>
            <a:xfrm>
              <a:off x="822960" y="3474720"/>
              <a:ext cx="868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A94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python-docx</a:t>
              </a:r>
              <a:endParaRPr lang="en-US" sz="800" dirty="0"/>
            </a:p>
          </p:txBody>
        </p:sp>
        <p:pic>
          <p:nvPicPr>
            <p:cNvPr id="61" name="Image 16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6112" y="3675888"/>
              <a:ext cx="201168" cy="201168"/>
            </a:xfrm>
            <a:prstGeom prst="rect">
              <a:avLst/>
            </a:prstGeom>
          </p:spPr>
        </p:pic>
        <p:pic>
          <p:nvPicPr>
            <p:cNvPr id="62" name="Image 1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1480" y="4023360"/>
              <a:ext cx="347472" cy="347472"/>
            </a:xfrm>
            <a:prstGeom prst="rect">
              <a:avLst/>
            </a:prstGeom>
          </p:spPr>
        </p:pic>
        <p:sp>
          <p:nvSpPr>
            <p:cNvPr id="63" name="Text 43"/>
            <p:cNvSpPr/>
            <p:nvPr/>
          </p:nvSpPr>
          <p:spPr>
            <a:xfrm>
              <a:off x="822960" y="3995928"/>
              <a:ext cx="868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Excel</a:t>
              </a:r>
              <a:endParaRPr lang="en-US" sz="9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 files</a:t>
              </a:r>
              <a:endParaRPr lang="en-US" sz="900" dirty="0"/>
            </a:p>
          </p:txBody>
        </p:sp>
        <p:sp>
          <p:nvSpPr>
            <p:cNvPr id="64" name="Text 44"/>
            <p:cNvSpPr/>
            <p:nvPr/>
          </p:nvSpPr>
          <p:spPr>
            <a:xfrm>
              <a:off x="822960" y="4343400"/>
              <a:ext cx="868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A94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openpyxl</a:t>
              </a:r>
              <a:endParaRPr lang="en-US" sz="800" dirty="0"/>
            </a:p>
          </p:txBody>
        </p:sp>
        <p:pic>
          <p:nvPicPr>
            <p:cNvPr id="65" name="Image 18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6112" y="4544568"/>
              <a:ext cx="201168" cy="201168"/>
            </a:xfrm>
            <a:prstGeom prst="rect">
              <a:avLst/>
            </a:prstGeom>
          </p:spPr>
        </p:pic>
        <p:pic>
          <p:nvPicPr>
            <p:cNvPr id="66" name="Image 19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11480" y="4892040"/>
              <a:ext cx="347472" cy="347472"/>
            </a:xfrm>
            <a:prstGeom prst="rect">
              <a:avLst/>
            </a:prstGeom>
          </p:spPr>
        </p:pic>
        <p:sp>
          <p:nvSpPr>
            <p:cNvPr id="67" name="Text 45"/>
            <p:cNvSpPr/>
            <p:nvPr/>
          </p:nvSpPr>
          <p:spPr>
            <a:xfrm>
              <a:off x="822960" y="4864608"/>
              <a:ext cx="868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Titan Embed</a:t>
              </a:r>
              <a:endParaRPr lang="en-US" sz="9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V2 vectors</a:t>
              </a:r>
              <a:endParaRPr lang="en-US" sz="900" dirty="0"/>
            </a:p>
          </p:txBody>
        </p:sp>
        <p:sp>
          <p:nvSpPr>
            <p:cNvPr id="68" name="Text 46"/>
            <p:cNvSpPr/>
            <p:nvPr/>
          </p:nvSpPr>
          <p:spPr>
            <a:xfrm>
              <a:off x="822960" y="5212080"/>
              <a:ext cx="868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A94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1024-dim</a:t>
              </a:r>
              <a:endParaRPr lang="en-US" sz="800" dirty="0"/>
            </a:p>
          </p:txBody>
        </p:sp>
        <p:pic>
          <p:nvPicPr>
            <p:cNvPr id="69" name="Image 2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6112" y="5413248"/>
              <a:ext cx="201168" cy="201168"/>
            </a:xfrm>
            <a:prstGeom prst="rect">
              <a:avLst/>
            </a:prstGeom>
          </p:spPr>
        </p:pic>
        <p:pic>
          <p:nvPicPr>
            <p:cNvPr id="70" name="Image 21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1480" y="5760720"/>
              <a:ext cx="347472" cy="347472"/>
            </a:xfrm>
            <a:prstGeom prst="rect">
              <a:avLst/>
            </a:prstGeom>
          </p:spPr>
        </p:pic>
        <p:sp>
          <p:nvSpPr>
            <p:cNvPr id="71" name="Text 47"/>
            <p:cNvSpPr/>
            <p:nvPr/>
          </p:nvSpPr>
          <p:spPr>
            <a:xfrm>
              <a:off x="822960" y="5733288"/>
              <a:ext cx="8686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Pinecone</a:t>
              </a:r>
              <a:endParaRPr lang="en-US" sz="9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upsert</a:t>
              </a:r>
              <a:endParaRPr lang="en-US" sz="900" dirty="0"/>
            </a:p>
          </p:txBody>
        </p:sp>
        <p:sp>
          <p:nvSpPr>
            <p:cNvPr id="72" name="Text 48"/>
            <p:cNvSpPr/>
            <p:nvPr/>
          </p:nvSpPr>
          <p:spPr>
            <a:xfrm>
              <a:off x="822960" y="6080760"/>
              <a:ext cx="868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8A94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namespaces</a:t>
              </a:r>
              <a:endParaRPr lang="en-US" sz="800" dirty="0"/>
            </a:p>
          </p:txBody>
        </p:sp>
      </p:grpSp>
      <p:sp>
        <p:nvSpPr>
          <p:cNvPr id="73" name="Shape 49"/>
          <p:cNvSpPr/>
          <p:nvPr/>
        </p:nvSpPr>
        <p:spPr>
          <a:xfrm>
            <a:off x="640080" y="6492240"/>
            <a:ext cx="128016" cy="128016"/>
          </a:xfrm>
          <a:prstGeom prst="ellipse">
            <a:avLst/>
          </a:prstGeom>
          <a:solidFill>
            <a:srgbClr val="2E8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50"/>
          <p:cNvSpPr/>
          <p:nvPr/>
        </p:nvSpPr>
        <p:spPr>
          <a:xfrm>
            <a:off x="841248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SDK</a:t>
            </a:r>
            <a:endParaRPr lang="en-US" sz="900" dirty="0"/>
          </a:p>
        </p:txBody>
      </p:sp>
      <p:sp>
        <p:nvSpPr>
          <p:cNvPr id="75" name="Shape 51"/>
          <p:cNvSpPr/>
          <p:nvPr/>
        </p:nvSpPr>
        <p:spPr>
          <a:xfrm>
            <a:off x="2560320" y="6492240"/>
            <a:ext cx="128016" cy="128016"/>
          </a:xfrm>
          <a:prstGeom prst="ellipse">
            <a:avLst/>
          </a:prstGeom>
          <a:solidFill>
            <a:srgbClr val="2E8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52"/>
          <p:cNvSpPr/>
          <p:nvPr/>
        </p:nvSpPr>
        <p:spPr>
          <a:xfrm>
            <a:off x="2761488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 17B</a:t>
            </a:r>
            <a:endParaRPr lang="en-US" sz="900" dirty="0"/>
          </a:p>
        </p:txBody>
      </p:sp>
      <p:sp>
        <p:nvSpPr>
          <p:cNvPr id="77" name="Shape 53"/>
          <p:cNvSpPr/>
          <p:nvPr/>
        </p:nvSpPr>
        <p:spPr>
          <a:xfrm>
            <a:off x="4480560" y="6492240"/>
            <a:ext cx="128016" cy="128016"/>
          </a:xfrm>
          <a:prstGeom prst="ellipse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54"/>
          <p:cNvSpPr/>
          <p:nvPr/>
        </p:nvSpPr>
        <p:spPr>
          <a:xfrm>
            <a:off x="4681728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Embed V2</a:t>
            </a:r>
            <a:endParaRPr lang="en-US" sz="900" dirty="0"/>
          </a:p>
        </p:txBody>
      </p:sp>
      <p:sp>
        <p:nvSpPr>
          <p:cNvPr id="79" name="Shape 55"/>
          <p:cNvSpPr/>
          <p:nvPr/>
        </p:nvSpPr>
        <p:spPr>
          <a:xfrm>
            <a:off x="6400800" y="6492240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56"/>
          <p:cNvSpPr/>
          <p:nvPr/>
        </p:nvSpPr>
        <p:spPr>
          <a:xfrm>
            <a:off x="6601968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900" dirty="0"/>
          </a:p>
        </p:txBody>
      </p:sp>
      <p:sp>
        <p:nvSpPr>
          <p:cNvPr id="81" name="Shape 57"/>
          <p:cNvSpPr/>
          <p:nvPr/>
        </p:nvSpPr>
        <p:spPr>
          <a:xfrm>
            <a:off x="8321040" y="6492240"/>
            <a:ext cx="128016" cy="128016"/>
          </a:xfrm>
          <a:prstGeom prst="ellipse">
            <a:avLst/>
          </a:prstGeom>
          <a:solidFill>
            <a:srgbClr val="8A94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58"/>
          <p:cNvSpPr/>
          <p:nvPr/>
        </p:nvSpPr>
        <p:spPr>
          <a:xfrm>
            <a:off x="8522208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</a:t>
            </a:r>
            <a:endParaRPr lang="en-US" sz="900" dirty="0"/>
          </a:p>
        </p:txBody>
      </p:sp>
      <p:sp>
        <p:nvSpPr>
          <p:cNvPr id="83" name="Shape 59"/>
          <p:cNvSpPr/>
          <p:nvPr/>
        </p:nvSpPr>
        <p:spPr>
          <a:xfrm>
            <a:off x="10241280" y="6492240"/>
            <a:ext cx="128016" cy="128016"/>
          </a:xfrm>
          <a:prstGeom prst="ellipse">
            <a:avLst/>
          </a:prstGeom>
          <a:solidFill>
            <a:srgbClr val="AB7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60"/>
          <p:cNvSpPr/>
          <p:nvPr/>
        </p:nvSpPr>
        <p:spPr>
          <a:xfrm>
            <a:off x="10442448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158</Words>
  <Application>Microsoft Office PowerPoint</Application>
  <PresentationFormat>Widescreen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Tan, Zen Sheen</cp:lastModifiedBy>
  <cp:revision>2</cp:revision>
  <dcterms:created xsi:type="dcterms:W3CDTF">2026-10-04T11:11:31Z</dcterms:created>
  <dcterms:modified xsi:type="dcterms:W3CDTF">2026-10-04T13:36:48Z</dcterms:modified>
</cp:coreProperties>
</file>